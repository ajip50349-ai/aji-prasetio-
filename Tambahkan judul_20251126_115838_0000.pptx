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chivo Black" charset="1" panose="020B0A03020202020B04"/>
      <p:regular r:id="rId13"/>
    </p:embeddedFont>
    <p:embeddedFont>
      <p:font typeface="Montserrat" charset="1" panose="00000500000000000000"/>
      <p:regular r:id="rId14"/>
    </p:embeddedFont>
    <p:embeddedFont>
      <p:font typeface="Montserrat Bold" charset="1" panose="000008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-18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589607" y="0"/>
            <a:ext cx="8698393" cy="10400373"/>
            <a:chOff x="0" y="0"/>
            <a:chExt cx="8603361" cy="102867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50" y="-127"/>
              <a:ext cx="8603411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8603411">
                  <a:moveTo>
                    <a:pt x="8603411" y="10251440"/>
                  </a:moveTo>
                  <a:cubicBezTo>
                    <a:pt x="8603411" y="10284587"/>
                    <a:pt x="8592743" y="10286873"/>
                    <a:pt x="8564930" y="10286873"/>
                  </a:cubicBezTo>
                  <a:cubicBezTo>
                    <a:pt x="5710351" y="10286238"/>
                    <a:pt x="2855899" y="10286238"/>
                    <a:pt x="1320" y="10286238"/>
                  </a:cubicBezTo>
                  <a:cubicBezTo>
                    <a:pt x="-2744" y="10272395"/>
                    <a:pt x="3606" y="10259822"/>
                    <a:pt x="6527" y="10246995"/>
                  </a:cubicBezTo>
                  <a:cubicBezTo>
                    <a:pt x="132003" y="9685401"/>
                    <a:pt x="257606" y="9123934"/>
                    <a:pt x="383463" y="8562467"/>
                  </a:cubicBezTo>
                  <a:cubicBezTo>
                    <a:pt x="562914" y="7761986"/>
                    <a:pt x="742746" y="6961632"/>
                    <a:pt x="922070" y="6161151"/>
                  </a:cubicBezTo>
                  <a:cubicBezTo>
                    <a:pt x="1143558" y="5172583"/>
                    <a:pt x="1364538" y="4184015"/>
                    <a:pt x="1585899" y="3195574"/>
                  </a:cubicBezTo>
                  <a:cubicBezTo>
                    <a:pt x="1810816" y="2191385"/>
                    <a:pt x="2035860" y="1187323"/>
                    <a:pt x="2261412" y="183261"/>
                  </a:cubicBezTo>
                  <a:cubicBezTo>
                    <a:pt x="2275128" y="122174"/>
                    <a:pt x="2283891" y="59690"/>
                    <a:pt x="2306116" y="635"/>
                  </a:cubicBezTo>
                  <a:cubicBezTo>
                    <a:pt x="4392472" y="635"/>
                    <a:pt x="6478828" y="635"/>
                    <a:pt x="8565184" y="0"/>
                  </a:cubicBezTo>
                  <a:cubicBezTo>
                    <a:pt x="8593505" y="0"/>
                    <a:pt x="8603157" y="3429"/>
                    <a:pt x="8603157" y="35814"/>
                  </a:cubicBezTo>
                  <a:cubicBezTo>
                    <a:pt x="8602395" y="3441065"/>
                    <a:pt x="8602395" y="6846316"/>
                    <a:pt x="8603411" y="10251440"/>
                  </a:cubicBezTo>
                  <a:close/>
                </a:path>
              </a:pathLst>
            </a:custGeom>
            <a:blipFill>
              <a:blip r:embed="rId3"/>
              <a:stretch>
                <a:fillRect l="-114498" t="-230" r="-2201" b="-20632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237583" y="6937923"/>
            <a:ext cx="9904959" cy="680751"/>
          </a:xfrm>
          <a:custGeom>
            <a:avLst/>
            <a:gdLst/>
            <a:ahLst/>
            <a:cxnLst/>
            <a:rect r="r" b="b" t="t" l="l"/>
            <a:pathLst>
              <a:path h="680751" w="9904959">
                <a:moveTo>
                  <a:pt x="0" y="0"/>
                </a:moveTo>
                <a:lnTo>
                  <a:pt x="9904958" y="0"/>
                </a:lnTo>
                <a:lnTo>
                  <a:pt x="9904958" y="680752"/>
                </a:lnTo>
                <a:lnTo>
                  <a:pt x="0" y="680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7363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4490534"/>
            <a:ext cx="13211463" cy="2154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5"/>
              </a:lnSpc>
            </a:pPr>
            <a:r>
              <a:rPr lang="en-US" sz="6235" spc="87">
                <a:solidFill>
                  <a:srgbClr val="040506"/>
                </a:solidFill>
                <a:latin typeface="Archivo Black"/>
                <a:ea typeface="Archivo Black"/>
                <a:cs typeface="Archivo Black"/>
                <a:sym typeface="Archivo Black"/>
              </a:rPr>
              <a:t>HASIL RINGKASAN MATERI SEMESTER SATU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8599743" y="-4717334"/>
            <a:ext cx="1088513" cy="18288000"/>
            <a:chOff x="0" y="0"/>
            <a:chExt cx="286687" cy="4816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6687" cy="4816592"/>
            </a:xfrm>
            <a:custGeom>
              <a:avLst/>
              <a:gdLst/>
              <a:ahLst/>
              <a:cxnLst/>
              <a:rect r="r" b="b" t="t" l="l"/>
              <a:pathLst>
                <a:path h="4816592" w="286687">
                  <a:moveTo>
                    <a:pt x="0" y="0"/>
                  </a:moveTo>
                  <a:lnTo>
                    <a:pt x="286687" y="0"/>
                  </a:lnTo>
                  <a:lnTo>
                    <a:pt x="286687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696969">
                    <a:alpha val="72000"/>
                  </a:srgbClr>
                </a:gs>
                <a:gs pos="33333">
                  <a:srgbClr val="B4B4B4">
                    <a:alpha val="82500"/>
                  </a:srgbClr>
                </a:gs>
                <a:gs pos="66667">
                  <a:srgbClr val="EEEEEE">
                    <a:alpha val="70500"/>
                  </a:srgbClr>
                </a:gs>
                <a:gs pos="100000">
                  <a:srgbClr val="FBFBFB">
                    <a:alpha val="22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86687" cy="4835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900" y="0"/>
            <a:ext cx="18270100" cy="4165455"/>
          </a:xfrm>
          <a:custGeom>
            <a:avLst/>
            <a:gdLst/>
            <a:ahLst/>
            <a:cxnLst/>
            <a:rect r="r" b="b" t="t" l="l"/>
            <a:pathLst>
              <a:path h="4165455" w="18270100">
                <a:moveTo>
                  <a:pt x="0" y="0"/>
                </a:moveTo>
                <a:lnTo>
                  <a:pt x="18270100" y="0"/>
                </a:lnTo>
                <a:lnTo>
                  <a:pt x="18270100" y="4165455"/>
                </a:lnTo>
                <a:lnTo>
                  <a:pt x="0" y="4165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0524" r="0" b="-10197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78922" y="4445766"/>
            <a:ext cx="10091562" cy="228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9"/>
              </a:lnSpc>
            </a:pPr>
            <a:r>
              <a:rPr lang="en-US" sz="2644" spc="259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tugas pelajaran TKJ 1 </a:t>
            </a:r>
          </a:p>
          <a:p>
            <a:pPr algn="ctr">
              <a:lnSpc>
                <a:spcPts val="3649"/>
              </a:lnSpc>
            </a:pPr>
          </a:p>
          <a:p>
            <a:pPr algn="ctr">
              <a:lnSpc>
                <a:spcPts val="3649"/>
              </a:lnSpc>
            </a:pPr>
            <a:r>
              <a:rPr lang="en-US" sz="2644" spc="259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nama kelompok:</a:t>
            </a:r>
          </a:p>
          <a:p>
            <a:pPr algn="ctr">
              <a:lnSpc>
                <a:spcPts val="3649"/>
              </a:lnSpc>
            </a:pPr>
            <a:r>
              <a:rPr lang="en-US" sz="2644" spc="259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1. Aji prasetio </a:t>
            </a:r>
          </a:p>
          <a:p>
            <a:pPr algn="ctr">
              <a:lnSpc>
                <a:spcPts val="3649"/>
              </a:lnSpc>
            </a:pPr>
            <a:r>
              <a:rPr lang="en-US" sz="2644" spc="259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2. Aditya Prakoso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925483">
            <a:off x="5978889" y="4633519"/>
            <a:ext cx="15026802" cy="1591351"/>
          </a:xfrm>
          <a:custGeom>
            <a:avLst/>
            <a:gdLst/>
            <a:ahLst/>
            <a:cxnLst/>
            <a:rect r="r" b="b" t="t" l="l"/>
            <a:pathLst>
              <a:path h="1591351" w="15026802">
                <a:moveTo>
                  <a:pt x="0" y="0"/>
                </a:moveTo>
                <a:lnTo>
                  <a:pt x="15026802" y="0"/>
                </a:lnTo>
                <a:lnTo>
                  <a:pt x="15026802" y="1591350"/>
                </a:lnTo>
                <a:lnTo>
                  <a:pt x="0" y="159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046979" y="0"/>
            <a:ext cx="9241021" cy="10396149"/>
            <a:chOff x="0" y="0"/>
            <a:chExt cx="5370413" cy="6041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70413" cy="6041715"/>
            </a:xfrm>
            <a:custGeom>
              <a:avLst/>
              <a:gdLst/>
              <a:ahLst/>
              <a:cxnLst/>
              <a:rect r="r" b="b" t="t" l="l"/>
              <a:pathLst>
                <a:path h="6041715" w="5370413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70413" cy="6041715"/>
            </a:xfrm>
            <a:custGeom>
              <a:avLst/>
              <a:gdLst/>
              <a:ahLst/>
              <a:cxnLst/>
              <a:rect r="r" b="b" t="t" l="l"/>
              <a:pathLst>
                <a:path h="6041715" w="5370413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blipFill>
              <a:blip r:embed="rId4"/>
              <a:stretch>
                <a:fillRect l="-34427" t="0" r="-3442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122031" y="4270779"/>
            <a:ext cx="1828744" cy="182874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456932" y="4728682"/>
            <a:ext cx="1236499" cy="858804"/>
          </a:xfrm>
          <a:custGeom>
            <a:avLst/>
            <a:gdLst/>
            <a:ahLst/>
            <a:cxnLst/>
            <a:rect r="r" b="b" t="t" l="l"/>
            <a:pathLst>
              <a:path h="858804" w="1236499">
                <a:moveTo>
                  <a:pt x="0" y="0"/>
                </a:moveTo>
                <a:lnTo>
                  <a:pt x="1236498" y="0"/>
                </a:lnTo>
                <a:lnTo>
                  <a:pt x="1236498" y="858804"/>
                </a:lnTo>
                <a:lnTo>
                  <a:pt x="0" y="8588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304195" y="7312574"/>
            <a:ext cx="1746363" cy="1658033"/>
            <a:chOff x="0" y="0"/>
            <a:chExt cx="812800" cy="7716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771689"/>
            </a:xfrm>
            <a:custGeom>
              <a:avLst/>
              <a:gdLst/>
              <a:ahLst/>
              <a:cxnLst/>
              <a:rect r="r" b="b" t="t" l="l"/>
              <a:pathLst>
                <a:path h="771689" w="812800">
                  <a:moveTo>
                    <a:pt x="406400" y="0"/>
                  </a:moveTo>
                  <a:cubicBezTo>
                    <a:pt x="181951" y="0"/>
                    <a:pt x="0" y="172748"/>
                    <a:pt x="0" y="385844"/>
                  </a:cubicBezTo>
                  <a:cubicBezTo>
                    <a:pt x="0" y="598940"/>
                    <a:pt x="181951" y="771689"/>
                    <a:pt x="406400" y="771689"/>
                  </a:cubicBezTo>
                  <a:cubicBezTo>
                    <a:pt x="630849" y="771689"/>
                    <a:pt x="812800" y="598940"/>
                    <a:pt x="812800" y="385844"/>
                  </a:cubicBezTo>
                  <a:cubicBezTo>
                    <a:pt x="812800" y="17274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3296"/>
              <a:ext cx="660400" cy="646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713911" y="7490173"/>
            <a:ext cx="1103948" cy="1089897"/>
          </a:xfrm>
          <a:custGeom>
            <a:avLst/>
            <a:gdLst/>
            <a:ahLst/>
            <a:cxnLst/>
            <a:rect r="r" b="b" t="t" l="l"/>
            <a:pathLst>
              <a:path h="1089897" w="1103948">
                <a:moveTo>
                  <a:pt x="0" y="0"/>
                </a:moveTo>
                <a:lnTo>
                  <a:pt x="1103948" y="0"/>
                </a:lnTo>
                <a:lnTo>
                  <a:pt x="1103948" y="1089897"/>
                </a:lnTo>
                <a:lnTo>
                  <a:pt x="0" y="10898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-3950263" y="803081"/>
            <a:ext cx="15859325" cy="2258023"/>
            <a:chOff x="0" y="0"/>
            <a:chExt cx="1537211" cy="2188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37211" cy="218865"/>
            </a:xfrm>
            <a:custGeom>
              <a:avLst/>
              <a:gdLst/>
              <a:ahLst/>
              <a:cxnLst/>
              <a:rect r="r" b="b" t="t" l="l"/>
              <a:pathLst>
                <a:path h="218865" w="1537211">
                  <a:moveTo>
                    <a:pt x="1334011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537211" y="218865"/>
                  </a:lnTo>
                  <a:lnTo>
                    <a:pt x="1334011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19050"/>
              <a:ext cx="1334011" cy="23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188259" y="4401034"/>
            <a:ext cx="7132181" cy="268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2210" spc="216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1. Resolusi industri 1.0</a:t>
            </a:r>
          </a:p>
          <a:p>
            <a:pPr algn="l">
              <a:lnSpc>
                <a:spcPts val="3050"/>
              </a:lnSpc>
            </a:pPr>
            <a:r>
              <a:rPr lang="en-US" sz="2210" spc="216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Terjadi pada abad ke 8 yaitu identik dengan penemuan mesin uap merupakan </a:t>
            </a:r>
          </a:p>
          <a:p>
            <a:pPr algn="l">
              <a:lnSpc>
                <a:spcPts val="3050"/>
              </a:lnSpc>
            </a:pPr>
            <a:r>
              <a:rPr lang="en-US" sz="2210" spc="216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tanda dari revolusi industri 1.0</a:t>
            </a:r>
          </a:p>
          <a:p>
            <a:pPr algn="l">
              <a:lnSpc>
                <a:spcPts val="3050"/>
              </a:lnSpc>
            </a:pPr>
            <a:r>
              <a:rPr lang="en-US" sz="2210" spc="216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2. Ciri khasnya adalah menggunakan teknologi mesin uap </a:t>
            </a:r>
          </a:p>
          <a:p>
            <a:pPr algn="l" marL="0" indent="0" lvl="0">
              <a:lnSpc>
                <a:spcPts val="3050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4067334" y="6938165"/>
            <a:ext cx="6082285" cy="2954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sz="1885" spc="18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Revolusi industri 3.0</a:t>
            </a:r>
          </a:p>
          <a:p>
            <a:pPr algn="l">
              <a:lnSpc>
                <a:spcPts val="2601"/>
              </a:lnSpc>
            </a:pPr>
            <a:r>
              <a:rPr lang="en-US" sz="1885" spc="18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Revolusi Industri 3.0 adalah era transformasi industri yang dimulai pada pertengahan abad ke-20, ditandai dengan pengenalan komputer, otomatisasi, dan teknologi digital ke dalam proses manufaktur dan bisnis. Contoh ya seperti teknologi 1G,2G,3G,4G dan 5G</a:t>
            </a:r>
          </a:p>
          <a:p>
            <a:pPr algn="l" marL="0" indent="0" lvl="0">
              <a:lnSpc>
                <a:spcPts val="2601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408959" y="1110341"/>
            <a:ext cx="9911482" cy="1557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43"/>
              </a:lnSpc>
              <a:spcBef>
                <a:spcPct val="0"/>
              </a:spcBef>
            </a:pPr>
            <a:r>
              <a:rPr lang="en-US" sz="4524" spc="3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RESOLUSI INDUSTRI 1.0 DAN 3.0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1111" r="0" b="-61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7312" y="1028700"/>
            <a:ext cx="15591759" cy="8229600"/>
            <a:chOff x="0" y="0"/>
            <a:chExt cx="4106471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06471" cy="2167467"/>
            </a:xfrm>
            <a:custGeom>
              <a:avLst/>
              <a:gdLst/>
              <a:ahLst/>
              <a:cxnLst/>
              <a:rect r="r" b="b" t="t" l="l"/>
              <a:pathLst>
                <a:path h="2167467" w="4106471">
                  <a:moveTo>
                    <a:pt x="12413" y="0"/>
                  </a:moveTo>
                  <a:lnTo>
                    <a:pt x="4094058" y="0"/>
                  </a:lnTo>
                  <a:cubicBezTo>
                    <a:pt x="4100914" y="0"/>
                    <a:pt x="4106471" y="5558"/>
                    <a:pt x="4106471" y="12413"/>
                  </a:cubicBezTo>
                  <a:lnTo>
                    <a:pt x="4106471" y="2155053"/>
                  </a:lnTo>
                  <a:cubicBezTo>
                    <a:pt x="4106471" y="2158346"/>
                    <a:pt x="4105164" y="2161503"/>
                    <a:pt x="4102836" y="2163831"/>
                  </a:cubicBezTo>
                  <a:cubicBezTo>
                    <a:pt x="4100507" y="2166159"/>
                    <a:pt x="4097350" y="2167467"/>
                    <a:pt x="4094058" y="2167467"/>
                  </a:cubicBezTo>
                  <a:lnTo>
                    <a:pt x="12413" y="2167467"/>
                  </a:lnTo>
                  <a:cubicBezTo>
                    <a:pt x="9121" y="2167467"/>
                    <a:pt x="5964" y="2166159"/>
                    <a:pt x="3636" y="2163831"/>
                  </a:cubicBezTo>
                  <a:cubicBezTo>
                    <a:pt x="1308" y="2161503"/>
                    <a:pt x="0" y="2158346"/>
                    <a:pt x="0" y="2155053"/>
                  </a:cubicBezTo>
                  <a:lnTo>
                    <a:pt x="0" y="12413"/>
                  </a:lnTo>
                  <a:cubicBezTo>
                    <a:pt x="0" y="9121"/>
                    <a:pt x="1308" y="5964"/>
                    <a:pt x="3636" y="3636"/>
                  </a:cubicBezTo>
                  <a:cubicBezTo>
                    <a:pt x="5964" y="1308"/>
                    <a:pt x="9121" y="0"/>
                    <a:pt x="12413" y="0"/>
                  </a:cubicBezTo>
                  <a:close/>
                </a:path>
              </a:pathLst>
            </a:custGeom>
            <a:solidFill>
              <a:srgbClr val="FFFFFF">
                <a:alpha val="8666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106471" cy="2186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157909" y="992697"/>
            <a:ext cx="3276065" cy="199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"/>
              </a:lnSpc>
            </a:pPr>
            <a:r>
              <a:rPr lang="en-US" sz="1425" spc="11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BTS</a:t>
            </a:r>
          </a:p>
          <a:p>
            <a:pPr algn="ctr">
              <a:lnSpc>
                <a:spcPts val="1967"/>
              </a:lnSpc>
            </a:pPr>
            <a:r>
              <a:rPr lang="en-US" sz="1425" spc="11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BTS(BASE TRANSCEIVER STATION) ADALAH MENARA ATAU PERANGKAT PEMANCAR DAN PENERIMA SINYAL YANG MENGHUBUNGKAN HP DENGAN JARINGAN SELULER </a:t>
            </a:r>
          </a:p>
          <a:p>
            <a:pPr algn="ctr" marL="0" indent="0" lvl="0">
              <a:lnSpc>
                <a:spcPts val="1967"/>
              </a:lnSpc>
              <a:spcBef>
                <a:spcPct val="0"/>
              </a:spcBef>
            </a:pPr>
            <a:r>
              <a:rPr lang="en-US" sz="1425" spc="11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JENIS BTS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82018" y="2998040"/>
            <a:ext cx="12132293" cy="470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1732" spc="169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1. Macro BTS</a:t>
            </a:r>
          </a:p>
          <a:p>
            <a:pPr algn="ctr">
              <a:lnSpc>
                <a:spcPts val="2391"/>
              </a:lnSpc>
            </a:pPr>
            <a:r>
              <a:rPr lang="en-US" sz="1732" spc="169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menara tinggi yang mencakup area luas</a:t>
            </a:r>
          </a:p>
          <a:p>
            <a:pPr algn="ctr">
              <a:lnSpc>
                <a:spcPts val="2391"/>
              </a:lnSpc>
            </a:pPr>
            <a:r>
              <a:rPr lang="en-US" sz="1732" spc="169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2. Micro BTS </a:t>
            </a:r>
          </a:p>
          <a:p>
            <a:pPr algn="ctr">
              <a:lnSpc>
                <a:spcPts val="2391"/>
              </a:lnSpc>
            </a:pPr>
            <a:r>
              <a:rPr lang="en-US" sz="1732" spc="169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ukuranya lebih kecil, biasanya di pasang di area perkotaan padat untuk memperkuat sinyal </a:t>
            </a:r>
          </a:p>
          <a:p>
            <a:pPr algn="ctr">
              <a:lnSpc>
                <a:spcPts val="2391"/>
              </a:lnSpc>
            </a:pPr>
            <a:r>
              <a:rPr lang="en-US" sz="1732" spc="169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3. Pico BTS </a:t>
            </a:r>
          </a:p>
          <a:p>
            <a:pPr algn="ctr">
              <a:lnSpc>
                <a:spcPts val="2391"/>
              </a:lnSpc>
            </a:pPr>
            <a:r>
              <a:rPr lang="en-US" sz="1732" spc="169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digunakan di gedung , perkantoran, dengan jangkauan kecil </a:t>
            </a:r>
          </a:p>
          <a:p>
            <a:pPr algn="ctr">
              <a:lnSpc>
                <a:spcPts val="2391"/>
              </a:lnSpc>
            </a:pPr>
            <a:r>
              <a:rPr lang="en-US" sz="1732" spc="169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4. Femto BTS </a:t>
            </a:r>
          </a:p>
          <a:p>
            <a:pPr algn="ctr">
              <a:lnSpc>
                <a:spcPts val="2391"/>
              </a:lnSpc>
            </a:pPr>
            <a:r>
              <a:rPr lang="en-US" sz="1732" spc="169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BTS mini untuk penggunaan di rumah atau kantor pribadi </a:t>
            </a:r>
          </a:p>
          <a:p>
            <a:pPr algn="ctr">
              <a:lnSpc>
                <a:spcPts val="2391"/>
              </a:lnSpc>
            </a:pPr>
            <a:r>
              <a:rPr lang="en-US" sz="1732" spc="169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5. Outdoor BTS </a:t>
            </a:r>
          </a:p>
          <a:p>
            <a:pPr algn="ctr">
              <a:lnSpc>
                <a:spcPts val="2391"/>
              </a:lnSpc>
            </a:pPr>
            <a:r>
              <a:rPr lang="en-US" sz="1732" spc="169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Di pasang  diluar ruangan </a:t>
            </a:r>
          </a:p>
          <a:p>
            <a:pPr algn="ctr">
              <a:lnSpc>
                <a:spcPts val="2391"/>
              </a:lnSpc>
            </a:pPr>
            <a:r>
              <a:rPr lang="en-US" sz="1732" spc="169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dengan daya pancar besar </a:t>
            </a:r>
          </a:p>
          <a:p>
            <a:pPr algn="ctr">
              <a:lnSpc>
                <a:spcPts val="2391"/>
              </a:lnSpc>
            </a:pPr>
            <a:r>
              <a:rPr lang="en-US" sz="1732" spc="169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6. indoor BTS </a:t>
            </a:r>
          </a:p>
          <a:p>
            <a:pPr algn="ctr">
              <a:lnSpc>
                <a:spcPts val="2391"/>
              </a:lnSpc>
            </a:pPr>
            <a:r>
              <a:rPr lang="en-US" sz="1732" spc="169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di gunakan dalam gedung agar sinyal tidak terhalang dinding </a:t>
            </a:r>
          </a:p>
          <a:p>
            <a:pPr algn="ctr">
              <a:lnSpc>
                <a:spcPts val="2391"/>
              </a:lnSpc>
            </a:pPr>
            <a:r>
              <a:rPr lang="en-US" sz="1732" spc="169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Fungsi BTS </a:t>
            </a:r>
          </a:p>
          <a:p>
            <a:pPr algn="ctr">
              <a:lnSpc>
                <a:spcPts val="2391"/>
              </a:lnSpc>
            </a:pPr>
            <a:r>
              <a:rPr lang="en-US" sz="1732" spc="169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1. Mengatur komunikasi </a:t>
            </a:r>
          </a:p>
          <a:p>
            <a:pPr algn="ctr" marL="0" indent="0" lvl="0">
              <a:lnSpc>
                <a:spcPts val="2391"/>
              </a:lnSpc>
              <a:spcBef>
                <a:spcPct val="0"/>
              </a:spcBef>
            </a:pPr>
            <a:r>
              <a:rPr lang="en-US" sz="1732" spc="169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2.  Menyediakan jaringan sinyal pada area tertentu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013836" y="1028700"/>
            <a:ext cx="19354610" cy="2258023"/>
            <a:chOff x="0" y="0"/>
            <a:chExt cx="1876002" cy="2188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6002" cy="218865"/>
            </a:xfrm>
            <a:custGeom>
              <a:avLst/>
              <a:gdLst/>
              <a:ahLst/>
              <a:cxnLst/>
              <a:rect r="r" b="b" t="t" l="l"/>
              <a:pathLst>
                <a:path h="218865" w="1876002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98682" y="3771102"/>
            <a:ext cx="8508442" cy="3287380"/>
            <a:chOff x="0" y="0"/>
            <a:chExt cx="2270754" cy="877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0754" cy="877344"/>
            </a:xfrm>
            <a:custGeom>
              <a:avLst/>
              <a:gdLst/>
              <a:ahLst/>
              <a:cxnLst/>
              <a:rect r="r" b="b" t="t" l="l"/>
              <a:pathLst>
                <a:path h="877344" w="2270754">
                  <a:moveTo>
                    <a:pt x="7279" y="0"/>
                  </a:moveTo>
                  <a:lnTo>
                    <a:pt x="2263475" y="0"/>
                  </a:lnTo>
                  <a:cubicBezTo>
                    <a:pt x="2267495" y="0"/>
                    <a:pt x="2270754" y="3259"/>
                    <a:pt x="2270754" y="7279"/>
                  </a:cubicBezTo>
                  <a:lnTo>
                    <a:pt x="2270754" y="870065"/>
                  </a:lnTo>
                  <a:cubicBezTo>
                    <a:pt x="2270754" y="874085"/>
                    <a:pt x="2267495" y="877344"/>
                    <a:pt x="2263475" y="877344"/>
                  </a:cubicBezTo>
                  <a:lnTo>
                    <a:pt x="7279" y="877344"/>
                  </a:lnTo>
                  <a:cubicBezTo>
                    <a:pt x="3259" y="877344"/>
                    <a:pt x="0" y="874085"/>
                    <a:pt x="0" y="870065"/>
                  </a:cubicBezTo>
                  <a:lnTo>
                    <a:pt x="0" y="7279"/>
                  </a:lnTo>
                  <a:cubicBezTo>
                    <a:pt x="0" y="3259"/>
                    <a:pt x="3259" y="0"/>
                    <a:pt x="7279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270754" cy="93449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  <a:r>
                <a:rPr lang="en-US" b="true" sz="2981" spc="2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1. Microwave link adalah sistem komunikasi nirkabel yang menggunakan gelombang radio dalam rentang frekuensi gelombang mikro untuk menghubungkan dua titik secara langsung (point-to-point). 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689046" y="4176727"/>
            <a:ext cx="6346855" cy="325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4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2573606" y="3743682"/>
            <a:ext cx="3314591" cy="3314591"/>
            <a:chOff x="0" y="0"/>
            <a:chExt cx="4872604" cy="48726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72609" cy="4872609"/>
            </a:xfrm>
            <a:custGeom>
              <a:avLst/>
              <a:gdLst/>
              <a:ahLst/>
              <a:cxnLst/>
              <a:rect r="r" b="b" t="t" l="l"/>
              <a:pathLst>
                <a:path h="4872609" w="4872609">
                  <a:moveTo>
                    <a:pt x="1061593" y="2436241"/>
                  </a:moveTo>
                  <a:cubicBezTo>
                    <a:pt x="1061593" y="1687957"/>
                    <a:pt x="1688084" y="1061466"/>
                    <a:pt x="2436368" y="1061466"/>
                  </a:cubicBezTo>
                  <a:cubicBezTo>
                    <a:pt x="3202051" y="1061466"/>
                    <a:pt x="3811143" y="1687957"/>
                    <a:pt x="3811143" y="2436241"/>
                  </a:cubicBezTo>
                  <a:cubicBezTo>
                    <a:pt x="3811143" y="3201924"/>
                    <a:pt x="3202051" y="3811016"/>
                    <a:pt x="2436368" y="3811016"/>
                  </a:cubicBezTo>
                  <a:cubicBezTo>
                    <a:pt x="2436368" y="4872609"/>
                    <a:pt x="2436368" y="4872609"/>
                    <a:pt x="2436368" y="4872609"/>
                  </a:cubicBezTo>
                  <a:cubicBezTo>
                    <a:pt x="3776345" y="4872609"/>
                    <a:pt x="4872609" y="3776218"/>
                    <a:pt x="4872609" y="2436368"/>
                  </a:cubicBezTo>
                  <a:cubicBezTo>
                    <a:pt x="4872609" y="1096518"/>
                    <a:pt x="3776218" y="0"/>
                    <a:pt x="2436241" y="0"/>
                  </a:cubicBezTo>
                  <a:cubicBezTo>
                    <a:pt x="1096264" y="0"/>
                    <a:pt x="0" y="1096391"/>
                    <a:pt x="0" y="2436241"/>
                  </a:cubicBezTo>
                  <a:lnTo>
                    <a:pt x="1061593" y="2436241"/>
                  </a:lnTo>
                  <a:close/>
                </a:path>
              </a:pathLst>
            </a:custGeom>
            <a:solidFill>
              <a:srgbClr val="000000">
                <a:alpha val="16863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981212" y="3767100"/>
            <a:ext cx="3314591" cy="3326378"/>
            <a:chOff x="0" y="0"/>
            <a:chExt cx="4872604" cy="48899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72609" cy="4889881"/>
            </a:xfrm>
            <a:custGeom>
              <a:avLst/>
              <a:gdLst/>
              <a:ahLst/>
              <a:cxnLst/>
              <a:rect r="r" b="b" t="t" l="l"/>
              <a:pathLst>
                <a:path h="4889881" w="4872609">
                  <a:moveTo>
                    <a:pt x="3811016" y="2453640"/>
                  </a:moveTo>
                  <a:cubicBezTo>
                    <a:pt x="3811016" y="3201924"/>
                    <a:pt x="3201924" y="3828415"/>
                    <a:pt x="2436241" y="3828415"/>
                  </a:cubicBezTo>
                  <a:cubicBezTo>
                    <a:pt x="1687957" y="3828415"/>
                    <a:pt x="1061466" y="3201924"/>
                    <a:pt x="1061466" y="2453640"/>
                  </a:cubicBezTo>
                  <a:cubicBezTo>
                    <a:pt x="1061466" y="1687957"/>
                    <a:pt x="1687957" y="1078865"/>
                    <a:pt x="2436241" y="1078865"/>
                  </a:cubicBezTo>
                  <a:cubicBezTo>
                    <a:pt x="2436241" y="0"/>
                    <a:pt x="2436241" y="0"/>
                    <a:pt x="2436241" y="0"/>
                  </a:cubicBezTo>
                  <a:cubicBezTo>
                    <a:pt x="1096391" y="0"/>
                    <a:pt x="0" y="1096264"/>
                    <a:pt x="0" y="2453640"/>
                  </a:cubicBezTo>
                  <a:cubicBezTo>
                    <a:pt x="0" y="3793617"/>
                    <a:pt x="1096391" y="4889881"/>
                    <a:pt x="2436241" y="4889881"/>
                  </a:cubicBezTo>
                  <a:cubicBezTo>
                    <a:pt x="3776091" y="4889881"/>
                    <a:pt x="4872609" y="3793617"/>
                    <a:pt x="4872609" y="2453640"/>
                  </a:cubicBezTo>
                  <a:lnTo>
                    <a:pt x="3811016" y="2453640"/>
                  </a:lnTo>
                  <a:close/>
                </a:path>
              </a:pathLst>
            </a:custGeom>
            <a:solidFill>
              <a:srgbClr val="000000">
                <a:alpha val="16863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548713" y="6337440"/>
            <a:ext cx="3314591" cy="3315573"/>
            <a:chOff x="0" y="0"/>
            <a:chExt cx="4872604" cy="48740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72482" cy="4874006"/>
            </a:xfrm>
            <a:custGeom>
              <a:avLst/>
              <a:gdLst/>
              <a:ahLst/>
              <a:cxnLst/>
              <a:rect r="r" b="b" t="t" l="l"/>
              <a:pathLst>
                <a:path h="4874006" w="4872482">
                  <a:moveTo>
                    <a:pt x="3811016" y="2437003"/>
                  </a:moveTo>
                  <a:cubicBezTo>
                    <a:pt x="3811016" y="3202940"/>
                    <a:pt x="3201924" y="3812159"/>
                    <a:pt x="2436241" y="3812159"/>
                  </a:cubicBezTo>
                  <a:cubicBezTo>
                    <a:pt x="1687957" y="3812159"/>
                    <a:pt x="1061466" y="3202940"/>
                    <a:pt x="1061466" y="2437003"/>
                  </a:cubicBezTo>
                  <a:cubicBezTo>
                    <a:pt x="1061466" y="1688465"/>
                    <a:pt x="1687957" y="1061847"/>
                    <a:pt x="2436241" y="1061847"/>
                  </a:cubicBezTo>
                  <a:cubicBezTo>
                    <a:pt x="2436241" y="0"/>
                    <a:pt x="2436241" y="0"/>
                    <a:pt x="2436241" y="0"/>
                  </a:cubicBezTo>
                  <a:cubicBezTo>
                    <a:pt x="1096391" y="0"/>
                    <a:pt x="0" y="1096645"/>
                    <a:pt x="0" y="2437003"/>
                  </a:cubicBezTo>
                  <a:cubicBezTo>
                    <a:pt x="0" y="3777361"/>
                    <a:pt x="1096391" y="4874006"/>
                    <a:pt x="2436241" y="4874006"/>
                  </a:cubicBezTo>
                  <a:cubicBezTo>
                    <a:pt x="3776091" y="4874006"/>
                    <a:pt x="4872482" y="3777361"/>
                    <a:pt x="4872482" y="2437003"/>
                  </a:cubicBezTo>
                  <a:lnTo>
                    <a:pt x="3811016" y="2437003"/>
                  </a:lnTo>
                  <a:close/>
                </a:path>
              </a:pathLst>
            </a:custGeom>
            <a:solidFill>
              <a:srgbClr val="000000">
                <a:alpha val="16863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878301" y="4617656"/>
            <a:ext cx="1520413" cy="152041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469664" y="7244657"/>
            <a:ext cx="1522475" cy="152247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447581" y="4617656"/>
            <a:ext cx="1566642" cy="156664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1135381" y="4897605"/>
            <a:ext cx="1006253" cy="960515"/>
          </a:xfrm>
          <a:custGeom>
            <a:avLst/>
            <a:gdLst/>
            <a:ahLst/>
            <a:cxnLst/>
            <a:rect r="r" b="b" t="t" l="l"/>
            <a:pathLst>
              <a:path h="960515" w="1006253">
                <a:moveTo>
                  <a:pt x="0" y="0"/>
                </a:moveTo>
                <a:lnTo>
                  <a:pt x="1006253" y="0"/>
                </a:lnTo>
                <a:lnTo>
                  <a:pt x="1006253" y="960515"/>
                </a:lnTo>
                <a:lnTo>
                  <a:pt x="0" y="9605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779447" y="4906117"/>
            <a:ext cx="902910" cy="916237"/>
          </a:xfrm>
          <a:custGeom>
            <a:avLst/>
            <a:gdLst/>
            <a:ahLst/>
            <a:cxnLst/>
            <a:rect r="r" b="b" t="t" l="l"/>
            <a:pathLst>
              <a:path h="916237" w="902910">
                <a:moveTo>
                  <a:pt x="0" y="0"/>
                </a:moveTo>
                <a:lnTo>
                  <a:pt x="902910" y="0"/>
                </a:lnTo>
                <a:lnTo>
                  <a:pt x="902910" y="916237"/>
                </a:lnTo>
                <a:lnTo>
                  <a:pt x="0" y="9162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663813" y="1725604"/>
            <a:ext cx="9308329" cy="812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8"/>
              </a:lnSpc>
              <a:spcBef>
                <a:spcPct val="0"/>
              </a:spcBef>
            </a:pPr>
            <a:r>
              <a:rPr lang="en-US" sz="4745" spc="3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MICROWAVE LINK 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16860" y="3148979"/>
            <a:ext cx="5689104" cy="275488"/>
            <a:chOff x="0" y="0"/>
            <a:chExt cx="4519796" cy="21886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19796" cy="218865"/>
            </a:xfrm>
            <a:custGeom>
              <a:avLst/>
              <a:gdLst/>
              <a:ahLst/>
              <a:cxnLst/>
              <a:rect r="r" b="b" t="t" l="l"/>
              <a:pathLst>
                <a:path h="218865" w="4519796">
                  <a:moveTo>
                    <a:pt x="431659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4519796" y="218865"/>
                  </a:lnTo>
                  <a:lnTo>
                    <a:pt x="4316596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101600" y="-19050"/>
              <a:ext cx="4316596" cy="23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085550" y="-131220"/>
            <a:ext cx="9534019" cy="1112295"/>
            <a:chOff x="0" y="0"/>
            <a:chExt cx="1876002" cy="21886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76002" cy="218865"/>
            </a:xfrm>
            <a:custGeom>
              <a:avLst/>
              <a:gdLst/>
              <a:ahLst/>
              <a:cxnLst/>
              <a:rect r="r" b="b" t="t" l="l"/>
              <a:pathLst>
                <a:path h="218865" w="1876002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4" id="34"/>
          <p:cNvSpPr/>
          <p:nvPr/>
        </p:nvSpPr>
        <p:spPr>
          <a:xfrm>
            <a:off x="-715490" y="962025"/>
            <a:ext cx="1292129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13779447" y="7532947"/>
            <a:ext cx="902910" cy="902910"/>
          </a:xfrm>
          <a:custGeom>
            <a:avLst/>
            <a:gdLst/>
            <a:ahLst/>
            <a:cxnLst/>
            <a:rect r="r" b="b" t="t" l="l"/>
            <a:pathLst>
              <a:path h="902910" w="902910">
                <a:moveTo>
                  <a:pt x="0" y="0"/>
                </a:moveTo>
                <a:lnTo>
                  <a:pt x="902910" y="0"/>
                </a:lnTo>
                <a:lnTo>
                  <a:pt x="902910" y="902910"/>
                </a:lnTo>
                <a:lnTo>
                  <a:pt x="0" y="9029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1111" r="0" b="-61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46045" y="1988135"/>
            <a:ext cx="8616655" cy="3155365"/>
            <a:chOff x="0" y="0"/>
            <a:chExt cx="2269407" cy="8310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69407" cy="831043"/>
            </a:xfrm>
            <a:custGeom>
              <a:avLst/>
              <a:gdLst/>
              <a:ahLst/>
              <a:cxnLst/>
              <a:rect r="r" b="b" t="t" l="l"/>
              <a:pathLst>
                <a:path h="831043" w="2269407">
                  <a:moveTo>
                    <a:pt x="22462" y="0"/>
                  </a:moveTo>
                  <a:lnTo>
                    <a:pt x="2246945" y="0"/>
                  </a:lnTo>
                  <a:cubicBezTo>
                    <a:pt x="2259350" y="0"/>
                    <a:pt x="2269407" y="10057"/>
                    <a:pt x="2269407" y="22462"/>
                  </a:cubicBezTo>
                  <a:lnTo>
                    <a:pt x="2269407" y="808580"/>
                  </a:lnTo>
                  <a:cubicBezTo>
                    <a:pt x="2269407" y="820986"/>
                    <a:pt x="2259350" y="831043"/>
                    <a:pt x="2246945" y="831043"/>
                  </a:cubicBezTo>
                  <a:lnTo>
                    <a:pt x="22462" y="831043"/>
                  </a:lnTo>
                  <a:cubicBezTo>
                    <a:pt x="10057" y="831043"/>
                    <a:pt x="0" y="820986"/>
                    <a:pt x="0" y="808580"/>
                  </a:cubicBezTo>
                  <a:lnTo>
                    <a:pt x="0" y="22462"/>
                  </a:lnTo>
                  <a:cubicBezTo>
                    <a:pt x="0" y="10057"/>
                    <a:pt x="10057" y="0"/>
                    <a:pt x="22462" y="0"/>
                  </a:cubicBezTo>
                  <a:close/>
                </a:path>
              </a:pathLst>
            </a:custGeom>
            <a:solidFill>
              <a:srgbClr val="FFFFFF">
                <a:alpha val="8666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269407" cy="850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08006" y="2499940"/>
            <a:ext cx="7692734" cy="84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5"/>
              </a:lnSpc>
              <a:spcBef>
                <a:spcPct val="0"/>
              </a:spcBef>
            </a:pPr>
            <a:r>
              <a:rPr lang="en-US" sz="4960" spc="173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OUTDOOR UNIT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75588" y="3516817"/>
            <a:ext cx="7357569" cy="102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4"/>
              </a:lnSpc>
            </a:pPr>
            <a:r>
              <a:rPr lang="en-US" sz="1967" spc="192">
                <a:solidFill>
                  <a:srgbClr val="040506"/>
                </a:solidFill>
                <a:latin typeface="Montserrat"/>
                <a:ea typeface="Montserrat"/>
                <a:cs typeface="Montserrat"/>
                <a:sym typeface="Montserrat"/>
              </a:rPr>
              <a:t>Sistem transmisi dengan microwave link pada frekuensi 1-60 GHZ namun pada umumnya frekuensi yang sering digunakan di atas 3 GHZ.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63887" y="4719021"/>
            <a:ext cx="1114987" cy="952807"/>
          </a:xfrm>
          <a:custGeom>
            <a:avLst/>
            <a:gdLst/>
            <a:ahLst/>
            <a:cxnLst/>
            <a:rect r="r" b="b" t="t" l="l"/>
            <a:pathLst>
              <a:path h="952807" w="1114987">
                <a:moveTo>
                  <a:pt x="0" y="0"/>
                </a:moveTo>
                <a:lnTo>
                  <a:pt x="1114987" y="0"/>
                </a:lnTo>
                <a:lnTo>
                  <a:pt x="1114987" y="952808"/>
                </a:lnTo>
                <a:lnTo>
                  <a:pt x="0" y="952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18509" y="4719021"/>
            <a:ext cx="831541" cy="952807"/>
          </a:xfrm>
          <a:custGeom>
            <a:avLst/>
            <a:gdLst/>
            <a:ahLst/>
            <a:cxnLst/>
            <a:rect r="r" b="b" t="t" l="l"/>
            <a:pathLst>
              <a:path h="952807" w="831541">
                <a:moveTo>
                  <a:pt x="0" y="0"/>
                </a:moveTo>
                <a:lnTo>
                  <a:pt x="831541" y="0"/>
                </a:lnTo>
                <a:lnTo>
                  <a:pt x="831541" y="952808"/>
                </a:lnTo>
                <a:lnTo>
                  <a:pt x="0" y="9528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64243" y="4675888"/>
            <a:ext cx="926844" cy="1084604"/>
          </a:xfrm>
          <a:custGeom>
            <a:avLst/>
            <a:gdLst/>
            <a:ahLst/>
            <a:cxnLst/>
            <a:rect r="r" b="b" t="t" l="l"/>
            <a:pathLst>
              <a:path h="1084604" w="926844">
                <a:moveTo>
                  <a:pt x="0" y="0"/>
                </a:moveTo>
                <a:lnTo>
                  <a:pt x="926844" y="0"/>
                </a:lnTo>
                <a:lnTo>
                  <a:pt x="926844" y="1084604"/>
                </a:lnTo>
                <a:lnTo>
                  <a:pt x="0" y="10846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9797" y="5033500"/>
            <a:ext cx="16928406" cy="1580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42"/>
              </a:lnSpc>
            </a:pPr>
            <a:r>
              <a:rPr lang="en-US" sz="9378" spc="919">
                <a:solidFill>
                  <a:srgbClr val="040506"/>
                </a:solidFill>
                <a:latin typeface="Montserrat"/>
                <a:ea typeface="Montserrat"/>
                <a:cs typeface="Montserrat"/>
                <a:sym typeface="Montserrat"/>
              </a:rPr>
              <a:t>Sekian dan Terimakasih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016287" y="4871421"/>
            <a:ext cx="1114987" cy="952807"/>
          </a:xfrm>
          <a:custGeom>
            <a:avLst/>
            <a:gdLst/>
            <a:ahLst/>
            <a:cxnLst/>
            <a:rect r="r" b="b" t="t" l="l"/>
            <a:pathLst>
              <a:path h="952807" w="1114987">
                <a:moveTo>
                  <a:pt x="0" y="0"/>
                </a:moveTo>
                <a:lnTo>
                  <a:pt x="1114987" y="0"/>
                </a:lnTo>
                <a:lnTo>
                  <a:pt x="1114987" y="952808"/>
                </a:lnTo>
                <a:lnTo>
                  <a:pt x="0" y="952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DAG5tfTrRtc</dc:identifier>
  <dcterms:modified xsi:type="dcterms:W3CDTF">2011-08-01T06:04:30Z</dcterms:modified>
  <cp:revision>1</cp:revision>
  <dc:title>Tambahkan judul</dc:title>
</cp:coreProperties>
</file>